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E8C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TechFlow</c:v>
                  </c:pt>
                  <c:pt idx="1">
                    <c:v>CreativeHub</c:v>
                  </c:pt>
                  <c:pt idx="2">
                    <c:v>FinanceAce</c:v>
                  </c:pt>
                  <c:pt idx="3">
                    <c:v>LexCorp</c:v>
                  </c:pt>
                  <c:pt idx="4">
                    <c:v>HotelGrand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</c:v>
                </c:pt>
                <c:pt idx="1">
                  <c:v>74</c:v>
                </c:pt>
                <c:pt idx="2">
                  <c:v>61</c:v>
                </c:pt>
                <c:pt idx="3">
                  <c:v>52</c:v>
                </c:pt>
                <c:pt idx="4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181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181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FEF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194560" cy="2194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10896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PITCH ·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3108960" y="187452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-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</a:t>
            </a:r>
            <a:pPr indent="0" marL="0">
              <a:buNone/>
            </a:pPr>
            <a:r>
              <a:rPr lang="en-US" sz="7200" b="1" spc="-4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indent="0" marL="0">
              <a:buNone/>
            </a:pPr>
            <a:r>
              <a:rPr lang="en-US" sz="7200" b="1" spc="-4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3108960" y="3017520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Platforma rekrutacji bez bramek wejściowych.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3108960" y="3520440"/>
            <a:ext cx="5897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0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 Z udowadnia się pracą — nie CV.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4434840"/>
            <a:ext cx="548640" cy="36576"/>
          </a:xfrm>
          <a:prstGeom prst="rect">
            <a:avLst/>
          </a:prstGeom>
          <a:solidFill>
            <a:srgbClr val="20B981"/>
          </a:solidFill>
          <a:ln w="12700">
            <a:solidFill>
              <a:srgbClr val="2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Prototyp · React + .NET · demo 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Rynek pracy dla Gen Z jest zepsuty.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25146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54203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30358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Bramki na wejściu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49808" y="3429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„2 lata doświadczenia wymagane" na stanowisku juniorskim. Zamknięte drzwi, zanim ktoś w ogóle zapuka.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520440" y="2331720"/>
            <a:ext cx="25146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608" y="2542032"/>
            <a:ext cx="384048" cy="384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21608" y="30358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Ghosting po aplikacji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3721608" y="3429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 odpowiedzi, brak informacji zwrotnej — kandydat nie wie, co poprawić, firma nie wie, kogo traci.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492240" y="2331720"/>
            <a:ext cx="25146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2542032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93408" y="30358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nie mówi prawdy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693408" y="3429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Teoretyczne umiejętności z LinkedIna nie pokazują, czy ktoś naprawdę potrafi rozwiązać realny problem firmy.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ROZWIĄZANIE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Udowodnij się zadaniem. Nie CV.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21284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C4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 to pomost między Gen Z a pracodawcami oparty na realnej pracy: krótkich wyzwaniach od firm, transparentnym feedbacku i odznakach zdobywanych, a nie deklarowanych.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2514600" cy="1417320"/>
          </a:xfrm>
          <a:prstGeom prst="rect">
            <a:avLst/>
          </a:prstGeom>
          <a:solidFill>
            <a:srgbClr val="1A1D22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3456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BATTLE TASK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E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Firma wrzuca realny brief.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385876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50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520440" y="3337560"/>
            <a:ext cx="2514600" cy="1417320"/>
          </a:xfrm>
          <a:prstGeom prst="rect">
            <a:avLst/>
          </a:prstGeom>
          <a:solidFill>
            <a:srgbClr val="1A1D22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21608" y="3456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21608" y="37307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ZGŁOSZENIE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21608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E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 przesyła rozwiązanie.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80760" y="385876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50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92240" y="3337560"/>
            <a:ext cx="2514600" cy="1417320"/>
          </a:xfrm>
          <a:prstGeom prst="rect">
            <a:avLst/>
          </a:prstGeom>
          <a:solidFill>
            <a:srgbClr val="1A1D22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456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93408" y="37307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93408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E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3 dostaje odznakę + feedback.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FUNKCJA · 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Battle Tasks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2057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Krótkie, realne briefy od firm — zamiast testów z algorytmów i rozmów o zaletach-wadach.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88920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743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Realny problem firmy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68680" y="305409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Nie zadanie-zagadka, tylko coś, co naprawdę trzeba zrobić.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472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68680" y="34015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Konkretna nagroda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68680" y="37124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Płatne praktyki, staż, mentoring — widoczne od pierwszego klika.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05656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" y="40599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Deadline i status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686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→ Judging → Closed. Kandydat zawsze wie, gdzie jest sprawa.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303520" y="2606040"/>
            <a:ext cx="32918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5486400" y="2788920"/>
            <a:ext cx="1005840" cy="292608"/>
          </a:xfrm>
          <a:prstGeom prst="rect">
            <a:avLst/>
          </a:prstGeom>
          <a:solidFill>
            <a:srgbClr val="E6F5EE"/>
          </a:solidFill>
          <a:ln w="9525">
            <a:solidFill>
              <a:srgbClr val="1E8C65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486400" y="2788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CreativeHub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7818120" y="2788920"/>
            <a:ext cx="594360" cy="292608"/>
          </a:xfrm>
          <a:prstGeom prst="rect">
            <a:avLst/>
          </a:prstGeom>
          <a:solidFill>
            <a:srgbClr val="FDF4E3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818120" y="27889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0" y="31729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Kampania social media dla Gen Z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486400" y="3657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Strategia na TikTok i IG dla produktu 18–25. Content plan na miesiąc.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0" y="4206240"/>
            <a:ext cx="2926080" cy="13716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486400" y="427024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Nagroda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486400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2500 zł + udział w kampanii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FUNKCJA · 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by Mentor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2057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Odznaki, które coś znaczą — wystawiane przez konkretną firmę, za konkretne zadanie.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834640"/>
            <a:ext cx="2514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531620" y="3017520"/>
            <a:ext cx="548640" cy="548640"/>
          </a:xfrm>
          <a:prstGeom prst="ellipse">
            <a:avLst/>
          </a:prstGeom>
          <a:solidFill>
            <a:srgbClr val="FDF4E3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5316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31520" y="3657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1 / 4 rozwiązań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31520" y="39319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SaaS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4297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wystawił TechFlow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520440" y="2834640"/>
            <a:ext cx="2514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3420" y="3017520"/>
            <a:ext cx="548640" cy="548640"/>
          </a:xfrm>
          <a:prstGeom prst="ellipse">
            <a:avLst/>
          </a:prstGeom>
          <a:solidFill>
            <a:srgbClr val="F1EA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034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703320" y="3657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 / 8 rozwiązań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703320" y="39319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Kampania Gen 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703320" y="4297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wystawił CreativeHub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92240" y="2834640"/>
            <a:ext cx="2514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475220" y="3017520"/>
            <a:ext cx="548640" cy="548640"/>
          </a:xfrm>
          <a:prstGeom prst="ellipse">
            <a:avLst/>
          </a:prstGeom>
          <a:solidFill>
            <a:srgbClr val="E6F5EE"/>
          </a:solidFill>
          <a:ln w="25400">
            <a:solidFill>
              <a:srgbClr val="1E8C6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752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675120" y="3657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3 / 6 rozwiązań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39319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finansowy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675120" y="4297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wystawił FinanceAce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FUNKCJA · 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Anti-Ghosting Bridge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2057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Odrzucenie bez feedbacku? Niemożliwe — przycisk jest zablokowany w kodzie.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3749040" cy="1965960"/>
          </a:xfrm>
          <a:prstGeom prst="rect">
            <a:avLst/>
          </a:prstGeom>
          <a:solidFill>
            <a:srgbClr val="FBFBFC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44368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15568" y="29443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Bez wskazówki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731520" y="34015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Pole „wskazówka dla talentu" puste →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31520" y="3794760"/>
            <a:ext cx="3383280" cy="502920"/>
          </a:xfrm>
          <a:prstGeom prst="rect">
            <a:avLst/>
          </a:prstGeom>
          <a:solidFill>
            <a:srgbClr val="EEEEEE"/>
          </a:solidFill>
          <a:ln w="12700">
            <a:solidFill>
              <a:srgbClr val="DADADA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1363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1520" y="37947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A4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Odrzuć zgłoszenie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846320" y="2743200"/>
            <a:ext cx="3749040" cy="1965960"/>
          </a:xfrm>
          <a:prstGeom prst="rect">
            <a:avLst/>
          </a:prstGeom>
          <a:solidFill>
            <a:srgbClr val="E6F5EE"/>
          </a:solidFill>
          <a:ln w="12700">
            <a:solidFill>
              <a:srgbClr val="1E8C65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944368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13248" y="29443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 wskazówką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5029200" y="34015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„Popracuj nad komunikacją w zespole"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5029200" y="3794760"/>
            <a:ext cx="3383280" cy="502920"/>
          </a:xfrm>
          <a:prstGeom prst="rect">
            <a:avLst/>
          </a:prstGeom>
          <a:solidFill>
            <a:srgbClr val="1E8C65"/>
          </a:solidFill>
          <a:ln w="12700">
            <a:solidFill>
              <a:srgbClr val="1E8C65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029200" y="37947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Odrzuć z feedbackiem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FUNKCJA ·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Employer for Gen Z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2057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Firmy konkurują o talent otwartością — nie stawkami.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3657600" cy="205740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FORMUŁA SCORINGU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 </a:t>
            </a:r>
            <a:pPr indent="0" marL="0">
              <a:buNone/>
            </a:pPr>
            <a:r>
              <a:rPr lang="en-US" sz="200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rate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7724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odrzuceń z konstruktywną wskazówką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77240" y="3977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+30% </a:t>
            </a:r>
            <a:pPr indent="0" marL="0">
              <a:buNone/>
            </a:pPr>
            <a:r>
              <a:rPr lang="en-US" sz="200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szybkość odpowiedzi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772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A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max(0, 100 – średni czas w godzinach)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480560" y="2697480"/>
          <a:ext cx="420624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Jeden produkt, dwa pulpity.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393192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8C6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532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2807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Karta, nie CV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77240" y="3383280"/>
            <a:ext cx="1097280" cy="685800"/>
          </a:xfrm>
          <a:prstGeom prst="rect">
            <a:avLst/>
          </a:prstGeom>
          <a:solidFill>
            <a:srgbClr val="FAFAFA"/>
          </a:solidFill>
          <a:ln w="9525">
            <a:solidFill>
              <a:srgbClr val="E4E4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34107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" y="37947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Odznaki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11680" y="3383280"/>
            <a:ext cx="1097280" cy="685800"/>
          </a:xfrm>
          <a:prstGeom prst="rect">
            <a:avLst/>
          </a:prstGeom>
          <a:solidFill>
            <a:srgbClr val="FAFAFA"/>
          </a:solidFill>
          <a:ln w="9525">
            <a:solidFill>
              <a:srgbClr val="E4E4E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11680" y="34107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011680" y="37947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Zgłoszenia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246120" y="3383280"/>
            <a:ext cx="1097280" cy="685800"/>
          </a:xfrm>
          <a:prstGeom prst="rect">
            <a:avLst/>
          </a:prstGeom>
          <a:solidFill>
            <a:srgbClr val="FAFAFA"/>
          </a:solidFill>
          <a:ln w="9525">
            <a:solidFill>
              <a:srgbClr val="E4E4E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46120" y="34107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3246120" y="37947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77240" y="41605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 + zainteresowania + odznaki zdobyte w Battle Tasks. Bez zdjęcia, wieku, uczelni jako filtra.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63440" y="2331720"/>
            <a:ext cx="393192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92040" y="2532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MENTOR · FIRMA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92040" y="2807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Pulpit rekrutacyjny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4892040" y="3383280"/>
            <a:ext cx="1097280" cy="685800"/>
          </a:xfrm>
          <a:prstGeom prst="rect">
            <a:avLst/>
          </a:prstGeom>
          <a:solidFill>
            <a:srgbClr val="FAFAFA"/>
          </a:solidFill>
          <a:ln w="9525">
            <a:solidFill>
              <a:srgbClr val="E4E4E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92040" y="34107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4892040" y="37947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126480" y="3383280"/>
            <a:ext cx="1097280" cy="685800"/>
          </a:xfrm>
          <a:prstGeom prst="rect">
            <a:avLst/>
          </a:prstGeom>
          <a:solidFill>
            <a:srgbClr val="FAFAFA"/>
          </a:solidFill>
          <a:ln w="9525">
            <a:solidFill>
              <a:srgbClr val="E4E4E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126480" y="34107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126480" y="37947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360920" y="3383280"/>
            <a:ext cx="1097280" cy="685800"/>
          </a:xfrm>
          <a:prstGeom prst="rect">
            <a:avLst/>
          </a:prstGeom>
          <a:solidFill>
            <a:srgbClr val="FAFAFA"/>
          </a:solidFill>
          <a:ln w="9525">
            <a:solidFill>
              <a:srgbClr val="E4E4E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341071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7360920" y="37947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892040" y="41605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Zlecaj Battle Tasks, filtruj talenty po umiejętnościach, wybieraj Top 3 — i zbieraj swój score.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TECHNOLOGIA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zbudowany, nie obiecywany.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2468880"/>
            <a:ext cx="2514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670048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49808" y="35204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18 + Vite + TypeScript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Tailwind + shadcn/ui (Radix)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Zustand + React Query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Router · Recharts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3520440" y="2468880"/>
            <a:ext cx="2514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608" y="2670048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21608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3721608" y="35204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ASP.NET Core · .NET 8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Entity Framework Core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+ Bearer Auth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Kontrolery REST (OpenAPI)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492240" y="2468880"/>
            <a:ext cx="2514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2670048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93408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Dane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6693408" y="35204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 (dev) · łatwa migracja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Seed: 5 firm, 9 talentów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tasków, 11 zgłoszeń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decyzji z feedbackiem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DLACZEGO TERAZ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 Z vs. rynek pracy.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2514600" cy="169164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58%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 Z w Polsce rozważa zmianę pracy w najbliższym roku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20440" y="2331720"/>
            <a:ext cx="2514600" cy="169164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03320" y="25146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z 4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3703320" y="33832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kandydatów doświadcza ghostingu po rozmowie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92240" y="2331720"/>
            <a:ext cx="2514600" cy="1691640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25146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~14</a:t>
            </a:r>
            <a:endParaRPr lang="en-US" sz="5400" dirty="0"/>
          </a:p>
        </p:txBody>
      </p:sp>
      <p:sp>
        <p:nvSpPr>
          <p:cNvPr id="14" name="Text 11"/>
          <p:cNvSpPr/>
          <p:nvPr/>
        </p:nvSpPr>
        <p:spPr>
          <a:xfrm>
            <a:off x="6675120" y="33832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średnia liczba aplikacji zanim junior trafi na pierwszą ofertę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Dane szacunkowe · raporty rynkowe o zatrudnieniu młodych 2023–2025 (do podmiany na Twoje źródła w finalnej wersji).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talentflow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 już działa. Co dalej.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3931920" cy="2423160"/>
          </a:xfrm>
          <a:prstGeom prst="rect">
            <a:avLst/>
          </a:prstGeom>
          <a:solidFill>
            <a:srgbClr val="E6F5EE"/>
          </a:solidFill>
          <a:ln w="12700">
            <a:solidFill>
              <a:srgbClr val="1E8C6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532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8C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ZROBIONE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Działający prototyp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3246120"/>
            <a:ext cx="34747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(JWT) + 3 konta demo (Talent · Mentor)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Dashboardy dla obu ról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Battle Tasks: CRUD + status (Open/Judging/Closed)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Zgłoszenia + wybór Top 3 przez mentora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Odznaki Verified by Mentor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Anti-Ghosting: wymóg wskazówki w kodzie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Ranking Top Employer + algorytm 70/30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63440" y="2331720"/>
            <a:ext cx="3931920" cy="2423160"/>
          </a:xfrm>
          <a:prstGeom prst="rect">
            <a:avLst/>
          </a:prstGeom>
          <a:solidFill>
            <a:srgbClr val="F1EA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92040" y="2532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NASTĘPNE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8920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 prototypu do produktu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892040" y="3246120"/>
            <a:ext cx="34747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Migracja z SQLite → Postgres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plików i portfolio (S3)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Powiadomienia e-mail + in-app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Weryfikacja pracodawcy (KRS/NIP)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profile link (do udostępniania odznak)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z 3–5 firmami partnerskimi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→"/>
            </a:pPr>
            <a:r>
              <a:rPr lang="en-US" sz="1050" dirty="0">
                <a:solidFill>
                  <a:srgbClr val="1618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Monetyzacja: SaaS per mentor / Battle Task credits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7532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A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7772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-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</a:t>
            </a:r>
            <a:pPr algn="ctr" indent="0" marL="0">
              <a:buNone/>
            </a:pPr>
            <a:r>
              <a:rPr lang="en-US" sz="5600" b="1" spc="-3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ctr" indent="0" marL="0">
              <a:buNone/>
            </a:pPr>
            <a:r>
              <a:rPr lang="en-US" sz="5600" b="1" spc="-300" kern="0" dirty="0">
                <a:solidFill>
                  <a:srgbClr val="2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</a:t>
            </a:r>
            <a:endParaRPr lang="en-US" sz="5600" dirty="0"/>
          </a:p>
        </p:txBody>
      </p:sp>
      <p:sp>
        <p:nvSpPr>
          <p:cNvPr id="4" name="Text 1"/>
          <p:cNvSpPr/>
          <p:nvPr/>
        </p:nvSpPr>
        <p:spPr>
          <a:xfrm>
            <a:off x="914400" y="2697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0C4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Rekrutacja Gen Z oparta na dowodzie, nie obietnicy.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108960" y="3474720"/>
            <a:ext cx="2926080" cy="594360"/>
          </a:xfrm>
          <a:prstGeom prst="rect">
            <a:avLst/>
          </a:prstGeom>
          <a:solidFill>
            <a:srgbClr val="20B981"/>
          </a:solidFill>
          <a:ln w="12700">
            <a:solidFill>
              <a:srgbClr val="2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108960" y="34747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1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Zobacz demo na żywo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8A8F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Zofia · Piotr · Kamil   —   konta demo w aplikacji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TalentFlow — Pitch</dc:title>
  <dc:subject>PptxGenJS Presentation</dc:subject>
  <dc:creator>TalentFlow</dc:creator>
  <cp:lastModifiedBy>TalentFlow</cp:lastModifiedBy>
  <cp:revision>1</cp:revision>
  <dcterms:created xsi:type="dcterms:W3CDTF">2026-04-18T19:49:05Z</dcterms:created>
  <dcterms:modified xsi:type="dcterms:W3CDTF">2026-04-18T19:49:05Z</dcterms:modified>
</cp:coreProperties>
</file>