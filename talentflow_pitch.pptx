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7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4" r:id="rId14"/>
    <p:sldId id="264" r:id="rId15"/>
    <p:sldId id="265" r:id="rId16"/>
    <p:sldId id="266" r:id="rId17"/>
    <p:sldId id="27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565F1-6A50-45EF-AC88-91A530F399F7}" v="40" dt="2026-04-18T22:21:33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56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8C6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181F"/>
                    </a:solidFill>
                    <a:latin typeface="Inter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TechFlow</c:v>
                </c:pt>
                <c:pt idx="1">
                  <c:v>CreativeHub</c:v>
                </c:pt>
                <c:pt idx="2">
                  <c:v>FinanceAce</c:v>
                </c:pt>
                <c:pt idx="3">
                  <c:v>LexCorp</c:v>
                </c:pt>
                <c:pt idx="4">
                  <c:v>HotelGrand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</c:v>
                </c:pt>
                <c:pt idx="1">
                  <c:v>74</c:v>
                </c:pt>
                <c:pt idx="2">
                  <c:v>61</c:v>
                </c:pt>
                <c:pt idx="3">
                  <c:v>52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BD-45D1-B85F-256026610B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181F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F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A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27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Hubertcior/TalentFlow" TargetMode="External"/><Relationship Id="rId4" Type="http://schemas.openxmlformats.org/officeDocument/2006/relationships/hyperlink" Target="https://drive.google.com/file/d/1E99587QQTNz6nTCWzpgRZZFyQRddupeL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· 2026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3108960" y="18745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-4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</a:t>
            </a:r>
            <a:r>
              <a:rPr lang="en-US" sz="7200" b="1" kern="0" spc="-400">
                <a:solidFill>
                  <a:srgbClr val="2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</a:t>
            </a:r>
            <a:endParaRPr lang="en-US" sz="7200"/>
          </a:p>
        </p:txBody>
      </p:sp>
      <p:sp>
        <p:nvSpPr>
          <p:cNvPr id="5" name="Text 2"/>
          <p:cNvSpPr/>
          <p:nvPr/>
        </p:nvSpPr>
        <p:spPr>
          <a:xfrm>
            <a:off x="3108960" y="301752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Platforma rekrutacji bez bramek wejściowych.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3108960" y="352044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AA0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udowadnia się pracą — nie CV.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548640" cy="36576"/>
          </a:xfrm>
          <a:prstGeom prst="rect">
            <a:avLst/>
          </a:prstGeom>
          <a:solidFill>
            <a:srgbClr val="20B981"/>
          </a:solidFill>
          <a:ln w="12700">
            <a:solidFill>
              <a:srgbClr val="2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9AA0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 · React + .NET · demo day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Czym jest talentflow?</a:t>
            </a:r>
          </a:p>
        </p:txBody>
      </p:sp>
      <p:sp>
        <p:nvSpPr>
          <p:cNvPr id="18" name="Text 12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90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051DAF32-4E1D-4AF7-86E4-05481A69D272}"/>
              </a:ext>
            </a:extLst>
          </p:cNvPr>
          <p:cNvSpPr txBox="1"/>
          <p:nvPr/>
        </p:nvSpPr>
        <p:spPr>
          <a:xfrm>
            <a:off x="546100" y="2336800"/>
            <a:ext cx="3937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200" b="1">
                <a:solidFill>
                  <a:srgbClr val="16181F"/>
                </a:solidFill>
                <a:ea typeface="Inter"/>
              </a:rPr>
              <a:t>Platforma, która otwiera drzwi do pierwszej pracy.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028C36F5-CD87-49E7-A28F-50143756C075}"/>
              </a:ext>
            </a:extLst>
          </p:cNvPr>
          <p:cNvSpPr txBox="1"/>
          <p:nvPr/>
        </p:nvSpPr>
        <p:spPr>
          <a:xfrm>
            <a:off x="546100" y="3937000"/>
            <a:ext cx="3937000" cy="6001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100">
                <a:solidFill>
                  <a:srgbClr val="656A75"/>
                </a:solidFill>
                <a:ea typeface="Inter"/>
              </a:rPr>
              <a:t>talentflow to rekrutacyjny marketplace dla Gen Z — łączymy kandydatów bez doświadczenia z firmami, które szukają realnego potencjału zamiast długiego CV.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57DFC689-3090-4E18-AA61-1B207293D566}"/>
              </a:ext>
            </a:extLst>
          </p:cNvPr>
          <p:cNvSpPr/>
          <p:nvPr/>
        </p:nvSpPr>
        <p:spPr>
          <a:xfrm>
            <a:off x="4826000" y="2413000"/>
            <a:ext cx="12700" cy="22860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2" name="Owal 21">
            <a:extLst>
              <a:ext uri="{FF2B5EF4-FFF2-40B4-BE49-F238E27FC236}">
                <a16:creationId xmlns:a16="http://schemas.microsoft.com/office/drawing/2014/main" id="{CC54BAC9-D235-4877-85F4-5DDD7F0B5FA6}"/>
              </a:ext>
            </a:extLst>
          </p:cNvPr>
          <p:cNvSpPr/>
          <p:nvPr/>
        </p:nvSpPr>
        <p:spPr>
          <a:xfrm>
            <a:off x="5207000" y="2489200"/>
            <a:ext cx="127000" cy="127000"/>
          </a:xfrm>
          <a:prstGeom prst="ellipse">
            <a:avLst/>
          </a:prstGeom>
          <a:solidFill>
            <a:srgbClr val="2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2320D8C7-2EAE-4C8C-AAE2-83A276BC1E9E}"/>
              </a:ext>
            </a:extLst>
          </p:cNvPr>
          <p:cNvSpPr txBox="1"/>
          <p:nvPr/>
        </p:nvSpPr>
        <p:spPr>
          <a:xfrm>
            <a:off x="5486400" y="2413000"/>
            <a:ext cx="33528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16181F"/>
                </a:solidFill>
                <a:ea typeface="Inter"/>
              </a:rPr>
              <a:t>Profile zamiast CV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A670F21-08D1-48B2-BE92-A77B72AB25DA}"/>
              </a:ext>
            </a:extLst>
          </p:cNvPr>
          <p:cNvSpPr txBox="1"/>
          <p:nvPr/>
        </p:nvSpPr>
        <p:spPr>
          <a:xfrm>
            <a:off x="5486400" y="2692400"/>
            <a:ext cx="33528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000">
                <a:solidFill>
                  <a:srgbClr val="656A75"/>
                </a:solidFill>
                <a:ea typeface="Inter"/>
              </a:rPr>
              <a:t>Umiejętności, projekty, portfolio — weryfikowalnie, nie deklaratywnie.</a:t>
            </a:r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7C89EA03-E2F6-4E4E-A1CA-52C62950D042}"/>
              </a:ext>
            </a:extLst>
          </p:cNvPr>
          <p:cNvSpPr/>
          <p:nvPr/>
        </p:nvSpPr>
        <p:spPr>
          <a:xfrm>
            <a:off x="5207000" y="3276600"/>
            <a:ext cx="127000" cy="127000"/>
          </a:xfrm>
          <a:prstGeom prst="ellipse">
            <a:avLst/>
          </a:prstGeom>
          <a:solidFill>
            <a:srgbClr val="2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E91B0D3A-2C51-431F-BD34-16A2146A4486}"/>
              </a:ext>
            </a:extLst>
          </p:cNvPr>
          <p:cNvSpPr txBox="1"/>
          <p:nvPr/>
        </p:nvSpPr>
        <p:spPr>
          <a:xfrm>
            <a:off x="5486400" y="3200400"/>
            <a:ext cx="33528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16181F"/>
                </a:solidFill>
                <a:ea typeface="Inter"/>
              </a:rPr>
              <a:t>Dopasowanie algorytmiczne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25735239-5390-4937-A3B1-097855B260AA}"/>
              </a:ext>
            </a:extLst>
          </p:cNvPr>
          <p:cNvSpPr txBox="1"/>
          <p:nvPr/>
        </p:nvSpPr>
        <p:spPr>
          <a:xfrm>
            <a:off x="5486400" y="3479800"/>
            <a:ext cx="33528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000">
                <a:solidFill>
                  <a:srgbClr val="656A75"/>
                </a:solidFill>
                <a:ea typeface="Inter"/>
              </a:rPr>
              <a:t>Matchujemy kandydata z ofertą na podstawie kompetencji, nie filtrów słów kluczowych.</a:t>
            </a:r>
          </a:p>
        </p:txBody>
      </p:sp>
      <p:sp>
        <p:nvSpPr>
          <p:cNvPr id="28" name="Owal 27">
            <a:extLst>
              <a:ext uri="{FF2B5EF4-FFF2-40B4-BE49-F238E27FC236}">
                <a16:creationId xmlns:a16="http://schemas.microsoft.com/office/drawing/2014/main" id="{A3E35E68-E97A-4D2F-86C2-1C0EB13601A5}"/>
              </a:ext>
            </a:extLst>
          </p:cNvPr>
          <p:cNvSpPr/>
          <p:nvPr/>
        </p:nvSpPr>
        <p:spPr>
          <a:xfrm>
            <a:off x="5207000" y="4064000"/>
            <a:ext cx="127000" cy="127000"/>
          </a:xfrm>
          <a:prstGeom prst="ellipse">
            <a:avLst/>
          </a:prstGeom>
          <a:solidFill>
            <a:srgbClr val="2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64531162-2DD2-4A78-9D41-74F253038BF7}"/>
              </a:ext>
            </a:extLst>
          </p:cNvPr>
          <p:cNvSpPr txBox="1"/>
          <p:nvPr/>
        </p:nvSpPr>
        <p:spPr>
          <a:xfrm>
            <a:off x="5486400" y="3987800"/>
            <a:ext cx="33528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16181F"/>
                </a:solidFill>
                <a:ea typeface="Inter"/>
              </a:rPr>
              <a:t>Bez bramek wejściowych</a:t>
            </a: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20BF19E2-97DF-4487-BCE9-77EBF23D9D92}"/>
              </a:ext>
            </a:extLst>
          </p:cNvPr>
          <p:cNvSpPr txBox="1"/>
          <p:nvPr/>
        </p:nvSpPr>
        <p:spPr>
          <a:xfrm>
            <a:off x="5486400" y="4267200"/>
            <a:ext cx="33528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000">
                <a:solidFill>
                  <a:srgbClr val="656A75"/>
                </a:solidFill>
                <a:ea typeface="Inter"/>
              </a:rPr>
              <a:t>Oferty dostępne także dla juniorów i osób zmieniających branżę.</a:t>
            </a:r>
          </a:p>
        </p:txBody>
      </p:sp>
    </p:spTree>
    <p:extLst>
      <p:ext uri="{BB962C8B-B14F-4D97-AF65-F5344CB8AC3E}">
        <p14:creationId xmlns:p14="http://schemas.microsoft.com/office/powerpoint/2010/main" val="317815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Rynek pracy dla Gen Z jest zepsuty.</a:t>
            </a:r>
            <a:endParaRPr lang="en-US" sz="360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514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542032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3035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Bramki na wejściu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749808" y="3429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„2 lata doświadczenia wymagane" na stanowisku juniorskim. Zamknięte drzwi, zanim ktoś w ogóle zapuka.</a:t>
            </a:r>
            <a:endParaRPr lang="en-US" sz="1100"/>
          </a:p>
        </p:txBody>
      </p:sp>
      <p:sp>
        <p:nvSpPr>
          <p:cNvPr id="10" name="Shape 6"/>
          <p:cNvSpPr/>
          <p:nvPr/>
        </p:nvSpPr>
        <p:spPr>
          <a:xfrm>
            <a:off x="3520440" y="2331720"/>
            <a:ext cx="2514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254203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21608" y="3035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Ghosting po aplikacji</a:t>
            </a:r>
            <a:endParaRPr lang="en-US" sz="1600"/>
          </a:p>
        </p:txBody>
      </p:sp>
      <p:sp>
        <p:nvSpPr>
          <p:cNvPr id="13" name="Text 8"/>
          <p:cNvSpPr/>
          <p:nvPr/>
        </p:nvSpPr>
        <p:spPr>
          <a:xfrm>
            <a:off x="3721608" y="3429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odpowiedzi, brak informacji zwrotnej — kandydat nie wie, co poprawić, firma nie wie, kogo traci.</a:t>
            </a:r>
            <a:endParaRPr lang="en-US" sz="1100"/>
          </a:p>
        </p:txBody>
      </p:sp>
      <p:sp>
        <p:nvSpPr>
          <p:cNvPr id="14" name="Shape 9"/>
          <p:cNvSpPr/>
          <p:nvPr/>
        </p:nvSpPr>
        <p:spPr>
          <a:xfrm>
            <a:off x="6492240" y="2331720"/>
            <a:ext cx="2514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54203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93408" y="3035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nie mówi prawdy</a:t>
            </a:r>
            <a:endParaRPr lang="en-US" sz="1600"/>
          </a:p>
        </p:txBody>
      </p:sp>
      <p:sp>
        <p:nvSpPr>
          <p:cNvPr id="17" name="Text 11"/>
          <p:cNvSpPr/>
          <p:nvPr/>
        </p:nvSpPr>
        <p:spPr>
          <a:xfrm>
            <a:off x="6693408" y="34290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Teoretyczne umiejętności z LinkedIna nie pokazują, czy ktoś naprawdę potrafi rozwiązać realny problem firmy.</a:t>
            </a:r>
            <a:endParaRPr lang="en-US" sz="1100"/>
          </a:p>
        </p:txBody>
      </p:sp>
      <p:sp>
        <p:nvSpPr>
          <p:cNvPr id="18" name="Text 12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-1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Udowodnij się zadaniem. Nie CV.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22128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 to pomost między Gen Z a pracodawcami oparty na realnej pracy: krótkich wyzwaniach od firm, transparentnym feedbacku i odznakach zdobywanych, a nie deklarowanych.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2514600" cy="1417320"/>
          </a:xfrm>
          <a:prstGeom prst="rect">
            <a:avLst/>
          </a:prstGeom>
          <a:solidFill>
            <a:srgbClr val="1A1D22"/>
          </a:solidFill>
          <a:ln w="12700">
            <a:solidFill>
              <a:srgbClr val="2A2E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49808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2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749808" y="37307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TASK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749808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A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wrzuca realny brief.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108960" y="38587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4A50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/>
          </a:p>
        </p:txBody>
      </p:sp>
      <p:sp>
        <p:nvSpPr>
          <p:cNvPr id="10" name="Shape 8"/>
          <p:cNvSpPr/>
          <p:nvPr/>
        </p:nvSpPr>
        <p:spPr>
          <a:xfrm>
            <a:off x="3520440" y="3337560"/>
            <a:ext cx="2514600" cy="1417320"/>
          </a:xfrm>
          <a:prstGeom prst="rect">
            <a:avLst/>
          </a:prstGeom>
          <a:solidFill>
            <a:srgbClr val="1A1D22"/>
          </a:solidFill>
          <a:ln w="12700">
            <a:solidFill>
              <a:srgbClr val="2A2E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721608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721608" y="37307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ZGŁOSZENIE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721608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A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przesyła rozwiązanie.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080760" y="38587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4A50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2200"/>
          </a:p>
        </p:txBody>
      </p:sp>
      <p:sp>
        <p:nvSpPr>
          <p:cNvPr id="15" name="Shape 13"/>
          <p:cNvSpPr/>
          <p:nvPr/>
        </p:nvSpPr>
        <p:spPr>
          <a:xfrm>
            <a:off x="6492240" y="3337560"/>
            <a:ext cx="2514600" cy="1417320"/>
          </a:xfrm>
          <a:prstGeom prst="rect">
            <a:avLst/>
          </a:prstGeom>
          <a:solidFill>
            <a:srgbClr val="1A1D22"/>
          </a:solidFill>
          <a:ln w="12700">
            <a:solidFill>
              <a:srgbClr val="2A2E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693408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693408" y="37307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693408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A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dostaje odznakę + feedback.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8F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· 1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Tasks</a:t>
            </a:r>
            <a:endParaRPr lang="en-US" sz="360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Krótkie, realne briefy od firm — zamiast testów z algorytmów i rozmów o zaletach-wadach.</a:t>
            </a:r>
            <a:endParaRPr lang="en-US" sz="1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Realny problem firmy</a:t>
            </a:r>
            <a:endParaRPr lang="en-US" sz="1500"/>
          </a:p>
        </p:txBody>
      </p:sp>
      <p:sp>
        <p:nvSpPr>
          <p:cNvPr id="9" name="Text 5"/>
          <p:cNvSpPr/>
          <p:nvPr/>
        </p:nvSpPr>
        <p:spPr>
          <a:xfrm>
            <a:off x="868680" y="3054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zadanie-zagadka, tylko coś, co naprawdę trzeba zrobić.</a:t>
            </a:r>
            <a:endParaRPr lang="en-US" sz="11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472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Konkretna nagroda</a:t>
            </a:r>
            <a:endParaRPr lang="en-US" sz="1500"/>
          </a:p>
        </p:txBody>
      </p:sp>
      <p:sp>
        <p:nvSpPr>
          <p:cNvPr id="12" name="Text 7"/>
          <p:cNvSpPr/>
          <p:nvPr/>
        </p:nvSpPr>
        <p:spPr>
          <a:xfrm>
            <a:off x="868680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Płatne praktyki, staż, mentoring — widoczne od pierwszego klika.</a:t>
            </a:r>
            <a:endParaRPr lang="en-US" sz="11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0565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40599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 i status</a:t>
            </a:r>
            <a:endParaRPr lang="en-US" sz="1500"/>
          </a:p>
        </p:txBody>
      </p:sp>
      <p:sp>
        <p:nvSpPr>
          <p:cNvPr id="15" name="Text 9"/>
          <p:cNvSpPr/>
          <p:nvPr/>
        </p:nvSpPr>
        <p:spPr>
          <a:xfrm>
            <a:off x="86868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→ Judging → Closed. Kandydat zawsze wie, gdzie jest sprawa.</a:t>
            </a:r>
            <a:endParaRPr lang="en-US" sz="1100"/>
          </a:p>
        </p:txBody>
      </p:sp>
      <p:sp>
        <p:nvSpPr>
          <p:cNvPr id="16" name="Shape 10"/>
          <p:cNvSpPr/>
          <p:nvPr/>
        </p:nvSpPr>
        <p:spPr>
          <a:xfrm>
            <a:off x="5303520" y="2606040"/>
            <a:ext cx="3291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1"/>
          <p:cNvSpPr/>
          <p:nvPr/>
        </p:nvSpPr>
        <p:spPr>
          <a:xfrm>
            <a:off x="5486400" y="2788920"/>
            <a:ext cx="1005840" cy="292608"/>
          </a:xfrm>
          <a:prstGeom prst="rect">
            <a:avLst/>
          </a:prstGeom>
          <a:solidFill>
            <a:srgbClr val="E6F5EE"/>
          </a:solidFill>
          <a:ln w="9525">
            <a:solidFill>
              <a:srgbClr val="1E8C6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2"/>
          <p:cNvSpPr/>
          <p:nvPr/>
        </p:nvSpPr>
        <p:spPr>
          <a:xfrm>
            <a:off x="5486400" y="2788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CreativeHub</a:t>
            </a:r>
            <a:endParaRPr lang="en-US" sz="900"/>
          </a:p>
        </p:txBody>
      </p:sp>
      <p:sp>
        <p:nvSpPr>
          <p:cNvPr id="19" name="Shape 13"/>
          <p:cNvSpPr/>
          <p:nvPr/>
        </p:nvSpPr>
        <p:spPr>
          <a:xfrm>
            <a:off x="7818120" y="2788920"/>
            <a:ext cx="594360" cy="292608"/>
          </a:xfrm>
          <a:prstGeom prst="rect">
            <a:avLst/>
          </a:prstGeom>
          <a:solidFill>
            <a:srgbClr val="FDF4E3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4"/>
          <p:cNvSpPr/>
          <p:nvPr/>
        </p:nvSpPr>
        <p:spPr>
          <a:xfrm>
            <a:off x="7818120" y="27889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900"/>
          </a:p>
        </p:txBody>
      </p:sp>
      <p:sp>
        <p:nvSpPr>
          <p:cNvPr id="21" name="Text 15"/>
          <p:cNvSpPr/>
          <p:nvPr/>
        </p:nvSpPr>
        <p:spPr>
          <a:xfrm>
            <a:off x="5486400" y="3172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Kampania social media dla Gen Z</a:t>
            </a:r>
            <a:endParaRPr lang="en-US" sz="1500"/>
          </a:p>
        </p:txBody>
      </p:sp>
      <p:sp>
        <p:nvSpPr>
          <p:cNvPr id="22" name="Text 16"/>
          <p:cNvSpPr/>
          <p:nvPr/>
        </p:nvSpPr>
        <p:spPr>
          <a:xfrm>
            <a:off x="548640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Strategia na TikTok i IG dla produktu 18–25. Content plan na miesiąc.</a:t>
            </a:r>
            <a:endParaRPr lang="en-US" sz="1100"/>
          </a:p>
        </p:txBody>
      </p:sp>
      <p:sp>
        <p:nvSpPr>
          <p:cNvPr id="23" name="Shape 17"/>
          <p:cNvSpPr/>
          <p:nvPr/>
        </p:nvSpPr>
        <p:spPr>
          <a:xfrm>
            <a:off x="5486400" y="4206240"/>
            <a:ext cx="2926080" cy="13716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18"/>
          <p:cNvSpPr/>
          <p:nvPr/>
        </p:nvSpPr>
        <p:spPr>
          <a:xfrm>
            <a:off x="5486400" y="4270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Nagroda</a:t>
            </a:r>
            <a:endParaRPr lang="en-US" sz="900"/>
          </a:p>
        </p:txBody>
      </p:sp>
      <p:sp>
        <p:nvSpPr>
          <p:cNvPr id="25" name="Text 19"/>
          <p:cNvSpPr/>
          <p:nvPr/>
        </p:nvSpPr>
        <p:spPr>
          <a:xfrm>
            <a:off x="548640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2500 zł + udział w kampanii</a:t>
            </a:r>
            <a:endParaRPr lang="en-US" sz="1200"/>
          </a:p>
        </p:txBody>
      </p:sp>
      <p:sp>
        <p:nvSpPr>
          <p:cNvPr id="26" name="Text 20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· 2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by Mentor</a:t>
            </a:r>
            <a:endParaRPr lang="en-US" sz="360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Odznaki, które coś znaczą — wystawiane przez konkretną firmę, za konkretne zadanie.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5"/>
          <p:cNvSpPr/>
          <p:nvPr/>
        </p:nvSpPr>
        <p:spPr>
          <a:xfrm>
            <a:off x="1531620" y="3017520"/>
            <a:ext cx="548640" cy="548640"/>
          </a:xfrm>
          <a:prstGeom prst="ellipse">
            <a:avLst/>
          </a:prstGeom>
          <a:solidFill>
            <a:srgbClr val="FDF4E3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15316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 / 4 rozwiązań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SaaS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31520" y="4297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wystawił TechFlow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3520440" y="283464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4503420" y="3017520"/>
            <a:ext cx="548640" cy="548640"/>
          </a:xfrm>
          <a:prstGeom prst="ellipse">
            <a:avLst/>
          </a:prstGeom>
          <a:solidFill>
            <a:srgbClr val="F1EA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45034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</a:t>
            </a:r>
            <a:endParaRPr lang="en-US" sz="1800"/>
          </a:p>
        </p:txBody>
      </p:sp>
      <p:sp>
        <p:nvSpPr>
          <p:cNvPr id="16" name="Text 13"/>
          <p:cNvSpPr/>
          <p:nvPr/>
        </p:nvSpPr>
        <p:spPr>
          <a:xfrm>
            <a:off x="370332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2 / 8 rozwiązań</a:t>
            </a:r>
            <a:endParaRPr lang="en-US" sz="1000"/>
          </a:p>
        </p:txBody>
      </p:sp>
      <p:sp>
        <p:nvSpPr>
          <p:cNvPr id="17" name="Text 14"/>
          <p:cNvSpPr/>
          <p:nvPr/>
        </p:nvSpPr>
        <p:spPr>
          <a:xfrm>
            <a:off x="370332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Kampania Gen Z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3703320" y="4297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wystawił CreativeHub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6492240" y="283464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7"/>
          <p:cNvSpPr/>
          <p:nvPr/>
        </p:nvSpPr>
        <p:spPr>
          <a:xfrm>
            <a:off x="7475220" y="3017520"/>
            <a:ext cx="548640" cy="548640"/>
          </a:xfrm>
          <a:prstGeom prst="ellipse">
            <a:avLst/>
          </a:prstGeom>
          <a:solidFill>
            <a:srgbClr val="E6F5EE"/>
          </a:solidFill>
          <a:ln w="25400">
            <a:solidFill>
              <a:srgbClr val="1E8C6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8"/>
          <p:cNvSpPr/>
          <p:nvPr/>
        </p:nvSpPr>
        <p:spPr>
          <a:xfrm>
            <a:off x="74752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</a:t>
            </a:r>
            <a:endParaRPr lang="en-US" sz="1800"/>
          </a:p>
        </p:txBody>
      </p:sp>
      <p:sp>
        <p:nvSpPr>
          <p:cNvPr id="22" name="Text 19"/>
          <p:cNvSpPr/>
          <p:nvPr/>
        </p:nvSpPr>
        <p:spPr>
          <a:xfrm>
            <a:off x="667512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/ 6 rozwiązań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667512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finansowy</a:t>
            </a:r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6675120" y="4297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wystawił FinanceAce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· 3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Anti-Ghosting Bridge</a:t>
            </a:r>
            <a:endParaRPr lang="en-US" sz="360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Odrzucenie bez feedbacku? Niemożliwe — przycisk jest zablokowany w kodzie.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749040" cy="1965960"/>
          </a:xfrm>
          <a:prstGeom prst="rect">
            <a:avLst/>
          </a:prstGeom>
          <a:solidFill>
            <a:srgbClr val="FBFBFC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443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wskazówki</a:t>
            </a:r>
            <a:endParaRPr lang="en-US" sz="1400"/>
          </a:p>
        </p:txBody>
      </p:sp>
      <p:sp>
        <p:nvSpPr>
          <p:cNvPr id="10" name="Text 6"/>
          <p:cNvSpPr/>
          <p:nvPr/>
        </p:nvSpPr>
        <p:spPr>
          <a:xfrm>
            <a:off x="731520" y="3401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Pole „wskazówka dla talentu" puste →</a:t>
            </a:r>
            <a:endParaRPr lang="en-US" sz="1200"/>
          </a:p>
        </p:txBody>
      </p:sp>
      <p:sp>
        <p:nvSpPr>
          <p:cNvPr id="11" name="Shape 7"/>
          <p:cNvSpPr/>
          <p:nvPr/>
        </p:nvSpPr>
        <p:spPr>
          <a:xfrm>
            <a:off x="731520" y="3794760"/>
            <a:ext cx="33832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91363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794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A0A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Odrzuć zgłoszenie</a:t>
            </a:r>
            <a:endParaRPr lang="en-US" sz="1300"/>
          </a:p>
        </p:txBody>
      </p:sp>
      <p:sp>
        <p:nvSpPr>
          <p:cNvPr id="14" name="Shape 9"/>
          <p:cNvSpPr/>
          <p:nvPr/>
        </p:nvSpPr>
        <p:spPr>
          <a:xfrm>
            <a:off x="4846320" y="2743200"/>
            <a:ext cx="3749040" cy="1965960"/>
          </a:xfrm>
          <a:prstGeom prst="rect">
            <a:avLst/>
          </a:prstGeom>
          <a:solidFill>
            <a:srgbClr val="E6F5EE"/>
          </a:solidFill>
          <a:ln w="12700">
            <a:solidFill>
              <a:srgbClr val="1E8C6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94436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13248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 wskazówką</a:t>
            </a:r>
            <a:endParaRPr lang="en-US" sz="1400"/>
          </a:p>
        </p:txBody>
      </p:sp>
      <p:sp>
        <p:nvSpPr>
          <p:cNvPr id="17" name="Text 11"/>
          <p:cNvSpPr/>
          <p:nvPr/>
        </p:nvSpPr>
        <p:spPr>
          <a:xfrm>
            <a:off x="5029200" y="3401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„Popracuj nad komunikacją w zespole"</a:t>
            </a:r>
            <a:endParaRPr lang="en-US" sz="1200"/>
          </a:p>
        </p:txBody>
      </p:sp>
      <p:sp>
        <p:nvSpPr>
          <p:cNvPr id="18" name="Shape 12"/>
          <p:cNvSpPr/>
          <p:nvPr/>
        </p:nvSpPr>
        <p:spPr>
          <a:xfrm>
            <a:off x="5029200" y="3794760"/>
            <a:ext cx="3383280" cy="502920"/>
          </a:xfrm>
          <a:prstGeom prst="rect">
            <a:avLst/>
          </a:prstGeom>
          <a:solidFill>
            <a:srgbClr val="1E8C65"/>
          </a:solidFill>
          <a:ln w="12700">
            <a:solidFill>
              <a:srgbClr val="1E8C6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3"/>
          <p:cNvSpPr/>
          <p:nvPr/>
        </p:nvSpPr>
        <p:spPr>
          <a:xfrm>
            <a:off x="5029200" y="3794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Odrzuć z feedbackiem</a:t>
            </a:r>
            <a:endParaRPr lang="en-US" sz="1300"/>
          </a:p>
        </p:txBody>
      </p:sp>
      <p:sp>
        <p:nvSpPr>
          <p:cNvPr id="20" name="Text 14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FUNKCJA · 4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Employer for Gen Z</a:t>
            </a:r>
            <a:endParaRPr lang="en-US" sz="360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Firmy konkurują o talent otwartością — nie stawkami.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3657600" cy="2057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FORMUŁA SCORINGU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 </a:t>
            </a:r>
            <a:r>
              <a:rPr lang="en-US" sz="20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rate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odrzuceń z konstruktywną wskazówką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+30% </a:t>
            </a:r>
            <a:r>
              <a:rPr lang="en-US" sz="20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szybkość odpowiedzi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7772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56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max(0, 100 – średni czas w godzinach)</a:t>
            </a:r>
            <a:endParaRPr lang="en-US" sz="1000"/>
          </a:p>
        </p:txBody>
      </p:sp>
      <p:graphicFrame>
        <p:nvGraphicFramePr>
          <p:cNvPr id="13" name="Chart 0"/>
          <p:cNvGraphicFramePr/>
          <p:nvPr/>
        </p:nvGraphicFramePr>
        <p:xfrm>
          <a:off x="4480560" y="2697480"/>
          <a:ext cx="4206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PRODUKT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Jeden produkt, dwa pulpity.</a:t>
            </a:r>
            <a:endParaRPr lang="en-US" sz="360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39319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C6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777240" y="2532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777240" y="2807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Karta, nie CV</a:t>
            </a:r>
            <a:endParaRPr lang="en-US" sz="2200"/>
          </a:p>
        </p:txBody>
      </p:sp>
      <p:sp>
        <p:nvSpPr>
          <p:cNvPr id="9" name="Shape 6"/>
          <p:cNvSpPr/>
          <p:nvPr/>
        </p:nvSpPr>
        <p:spPr>
          <a:xfrm>
            <a:off x="777240" y="3383280"/>
            <a:ext cx="10972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777240" y="34107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Odznaki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2011680" y="3383280"/>
            <a:ext cx="10972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2011680" y="34107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201168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Zgłoszenia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3246120" y="3383280"/>
            <a:ext cx="10972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3246120" y="34107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/>
          </a:p>
        </p:txBody>
      </p:sp>
      <p:sp>
        <p:nvSpPr>
          <p:cNvPr id="17" name="Text 14"/>
          <p:cNvSpPr/>
          <p:nvPr/>
        </p:nvSpPr>
        <p:spPr>
          <a:xfrm>
            <a:off x="324612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77724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 + zainteresowania + odznaki zdobyte w Battle Tasks. Bez zdjęcia, wieku, uczelni jako filtra.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4663440" y="2331720"/>
            <a:ext cx="39319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7"/>
          <p:cNvSpPr/>
          <p:nvPr/>
        </p:nvSpPr>
        <p:spPr>
          <a:xfrm>
            <a:off x="4892040" y="2532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 · FIRMA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4892040" y="2807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Pulpit rekrutacyjny</a:t>
            </a:r>
            <a:endParaRPr lang="en-US" sz="2200"/>
          </a:p>
        </p:txBody>
      </p:sp>
      <p:sp>
        <p:nvSpPr>
          <p:cNvPr id="22" name="Shape 19"/>
          <p:cNvSpPr/>
          <p:nvPr/>
        </p:nvSpPr>
        <p:spPr>
          <a:xfrm>
            <a:off x="4892040" y="3383280"/>
            <a:ext cx="10972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0"/>
          <p:cNvSpPr/>
          <p:nvPr/>
        </p:nvSpPr>
        <p:spPr>
          <a:xfrm>
            <a:off x="4892040" y="34107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2200"/>
          </a:p>
        </p:txBody>
      </p:sp>
      <p:sp>
        <p:nvSpPr>
          <p:cNvPr id="24" name="Text 21"/>
          <p:cNvSpPr/>
          <p:nvPr/>
        </p:nvSpPr>
        <p:spPr>
          <a:xfrm>
            <a:off x="489204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Talenty</a:t>
            </a:r>
            <a:endParaRPr lang="en-US" sz="900"/>
          </a:p>
        </p:txBody>
      </p:sp>
      <p:sp>
        <p:nvSpPr>
          <p:cNvPr id="25" name="Shape 22"/>
          <p:cNvSpPr/>
          <p:nvPr/>
        </p:nvSpPr>
        <p:spPr>
          <a:xfrm>
            <a:off x="6126480" y="3383280"/>
            <a:ext cx="10972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3"/>
          <p:cNvSpPr/>
          <p:nvPr/>
        </p:nvSpPr>
        <p:spPr>
          <a:xfrm>
            <a:off x="6126480" y="34107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/>
          </a:p>
        </p:txBody>
      </p:sp>
      <p:sp>
        <p:nvSpPr>
          <p:cNvPr id="27" name="Text 24"/>
          <p:cNvSpPr/>
          <p:nvPr/>
        </p:nvSpPr>
        <p:spPr>
          <a:xfrm>
            <a:off x="612648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900"/>
          </a:p>
        </p:txBody>
      </p:sp>
      <p:sp>
        <p:nvSpPr>
          <p:cNvPr id="28" name="Shape 25"/>
          <p:cNvSpPr/>
          <p:nvPr/>
        </p:nvSpPr>
        <p:spPr>
          <a:xfrm>
            <a:off x="7360920" y="3383280"/>
            <a:ext cx="1097280" cy="6858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6"/>
          <p:cNvSpPr/>
          <p:nvPr/>
        </p:nvSpPr>
        <p:spPr>
          <a:xfrm>
            <a:off x="7360920" y="34107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</a:t>
            </a:r>
            <a:endParaRPr lang="en-US" sz="2200"/>
          </a:p>
        </p:txBody>
      </p:sp>
      <p:sp>
        <p:nvSpPr>
          <p:cNvPr id="30" name="Text 27"/>
          <p:cNvSpPr/>
          <p:nvPr/>
        </p:nvSpPr>
        <p:spPr>
          <a:xfrm>
            <a:off x="7360920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900"/>
          </a:p>
        </p:txBody>
      </p:sp>
      <p:sp>
        <p:nvSpPr>
          <p:cNvPr id="31" name="Text 28"/>
          <p:cNvSpPr/>
          <p:nvPr/>
        </p:nvSpPr>
        <p:spPr>
          <a:xfrm>
            <a:off x="489204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Zlecaj Battle Tasks, filtruj talenty po umiejętnościach, wybieraj Top 3 — i zbieraj swój score.</a:t>
            </a:r>
            <a:endParaRPr lang="en-US" sz="1100"/>
          </a:p>
        </p:txBody>
      </p:sp>
      <p:sp>
        <p:nvSpPr>
          <p:cNvPr id="32" name="Text 29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Brand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</a:p>
        </p:txBody>
      </p:sp>
      <p:sp>
        <p:nvSpPr>
          <p:cNvPr id="4" name="Eyebrow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ZRZUTY EKRANU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1280160"/>
            <a:ext cx="82296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to wygląda w aplikacji.</a:t>
            </a:r>
          </a:p>
        </p:txBody>
      </p:sp>
      <p:sp>
        <p:nvSpPr>
          <p:cNvPr id="11" name="Caption1"/>
          <p:cNvSpPr/>
          <p:nvPr/>
        </p:nvSpPr>
        <p:spPr>
          <a:xfrm>
            <a:off x="4622800" y="3289300"/>
            <a:ext cx="397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6181F"/>
                </a:solidFill>
                <a:latin typeface="Inter" pitchFamily="34" charset="0"/>
              </a:rPr>
              <a:t>Battle Task</a:t>
            </a:r>
            <a:r>
              <a:rPr lang="en-US" sz="1000" kern="0">
                <a:solidFill>
                  <a:srgbClr val="8A928D"/>
                </a:solidFill>
                <a:latin typeface="Inter" pitchFamily="34" charset="0"/>
              </a:rPr>
              <a:t> — brief, nagroda, deadline</a:t>
            </a:r>
          </a:p>
        </p:txBody>
      </p:sp>
      <p:sp>
        <p:nvSpPr>
          <p:cNvPr id="21" name="Caption2"/>
          <p:cNvSpPr/>
          <p:nvPr/>
        </p:nvSpPr>
        <p:spPr>
          <a:xfrm>
            <a:off x="4622800" y="4546600"/>
            <a:ext cx="397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6181F"/>
                </a:solidFill>
                <a:latin typeface="Inter" pitchFamily="34" charset="0"/>
              </a:rPr>
              <a:t>Dashboard Talenta</a:t>
            </a:r>
            <a:r>
              <a:rPr lang="en-US" sz="1000" kern="0">
                <a:solidFill>
                  <a:srgbClr val="8A928D"/>
                </a:solidFill>
                <a:latin typeface="Inter" pitchFamily="34" charset="0"/>
              </a:rPr>
              <a:t> — karta, odznaki, feedback</a:t>
            </a:r>
          </a:p>
        </p:txBody>
      </p:sp>
      <p:sp>
        <p:nvSpPr>
          <p:cNvPr id="31" name="Caption3"/>
          <p:cNvSpPr/>
          <p:nvPr/>
        </p:nvSpPr>
        <p:spPr>
          <a:xfrm>
            <a:off x="546100" y="4546600"/>
            <a:ext cx="3873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>
                <a:solidFill>
                  <a:srgbClr val="16181F"/>
                </a:solidFill>
                <a:latin typeface="Inter" pitchFamily="34" charset="0"/>
              </a:rPr>
              <a:t>Pulpit Mentora</a:t>
            </a:r>
            <a:r>
              <a:rPr lang="en-US" sz="1000" kern="0">
                <a:solidFill>
                  <a:srgbClr val="8A928D"/>
                </a:solidFill>
                <a:latin typeface="Inter" pitchFamily="34" charset="0"/>
              </a:rPr>
              <a:t> — lista tasków, filtrowanie, Top 3</a:t>
            </a:r>
          </a:p>
        </p:txBody>
      </p:sp>
      <p:sp>
        <p:nvSpPr>
          <p:cNvPr id="50" name="PageNumber"/>
          <p:cNvSpPr/>
          <p:nvPr/>
        </p:nvSpPr>
        <p:spPr>
          <a:xfrm>
            <a:off x="8229600" y="4820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8A928D"/>
                </a:solidFill>
                <a:latin typeface="Inter" pitchFamily="34" charset="0"/>
              </a:rPr>
              <a:t>09 / 13</a:t>
            </a:r>
          </a:p>
        </p:txBody>
      </p:sp>
      <p:pic>
        <p:nvPicPr>
          <p:cNvPr id="51" name="Copied Picture 51">
            <a:extLst>
              <a:ext uri="{FF2B5EF4-FFF2-40B4-BE49-F238E27FC236}">
                <a16:creationId xmlns:a16="http://schemas.microsoft.com/office/drawing/2014/main" id="{E3F3B2E4-137A-0102-79F3-77D280BFF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955800"/>
            <a:ext cx="2451100" cy="1282700"/>
          </a:xfrm>
          <a:prstGeom prst="rect">
            <a:avLst/>
          </a:prstGeom>
        </p:spPr>
      </p:pic>
      <p:pic>
        <p:nvPicPr>
          <p:cNvPr id="52" name="Copied Picture 52">
            <a:extLst>
              <a:ext uri="{FF2B5EF4-FFF2-40B4-BE49-F238E27FC236}">
                <a16:creationId xmlns:a16="http://schemas.microsoft.com/office/drawing/2014/main" id="{4059155E-16DE-0926-3117-1C589DF95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800" y="3619500"/>
            <a:ext cx="2451100" cy="876300"/>
          </a:xfrm>
          <a:prstGeom prst="rect">
            <a:avLst/>
          </a:prstGeom>
        </p:spPr>
      </p:pic>
      <p:pic>
        <p:nvPicPr>
          <p:cNvPr id="53" name="Copied Picture 53">
            <a:extLst>
              <a:ext uri="{FF2B5EF4-FFF2-40B4-BE49-F238E27FC236}">
                <a16:creationId xmlns:a16="http://schemas.microsoft.com/office/drawing/2014/main" id="{230DDF45-4F2F-527C-F294-97AFC72FF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0" y="1955800"/>
            <a:ext cx="38735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02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TECHNOLOGIA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zbudowany, nie obiecywany.</a:t>
            </a:r>
            <a:endParaRPr lang="en-US" sz="340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514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67004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700"/>
          </a:p>
        </p:txBody>
      </p:sp>
      <p:sp>
        <p:nvSpPr>
          <p:cNvPr id="9" name="Text 5"/>
          <p:cNvSpPr/>
          <p:nvPr/>
        </p:nvSpPr>
        <p:spPr>
          <a:xfrm>
            <a:off x="749808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+ Vite + TypeScript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+ shadcn/ui (Radix)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Zustand + React Query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 · Recharts</a:t>
            </a:r>
            <a:endParaRPr lang="en-US" sz="1050"/>
          </a:p>
        </p:txBody>
      </p:sp>
      <p:sp>
        <p:nvSpPr>
          <p:cNvPr id="10" name="Shape 6"/>
          <p:cNvSpPr/>
          <p:nvPr/>
        </p:nvSpPr>
        <p:spPr>
          <a:xfrm>
            <a:off x="3520440" y="2468880"/>
            <a:ext cx="2514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267004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21608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700"/>
          </a:p>
        </p:txBody>
      </p:sp>
      <p:sp>
        <p:nvSpPr>
          <p:cNvPr id="13" name="Text 8"/>
          <p:cNvSpPr/>
          <p:nvPr/>
        </p:nvSpPr>
        <p:spPr>
          <a:xfrm>
            <a:off x="3721608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ASP.NET Core · .NET 8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Framework Core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Bearer Auth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Kontrolery REST (OpenAPI)</a:t>
            </a:r>
            <a:endParaRPr lang="en-US" sz="1050"/>
          </a:p>
        </p:txBody>
      </p:sp>
      <p:sp>
        <p:nvSpPr>
          <p:cNvPr id="14" name="Shape 9"/>
          <p:cNvSpPr/>
          <p:nvPr/>
        </p:nvSpPr>
        <p:spPr>
          <a:xfrm>
            <a:off x="6492240" y="2468880"/>
            <a:ext cx="2514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67004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93408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</a:t>
            </a:r>
            <a:endParaRPr lang="en-US" sz="1700"/>
          </a:p>
        </p:txBody>
      </p:sp>
      <p:sp>
        <p:nvSpPr>
          <p:cNvPr id="17" name="Text 11"/>
          <p:cNvSpPr/>
          <p:nvPr/>
        </p:nvSpPr>
        <p:spPr>
          <a:xfrm>
            <a:off x="6693408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(dev) · łatwa migracja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Seed: 5 firm, 9 talentów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tasków, 11 zgłoszeń</a:t>
            </a:r>
            <a:endParaRPr lang="en-US" sz="105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decyzji z feedbackiem</a:t>
            </a:r>
            <a:endParaRPr lang="en-US" sz="1050"/>
          </a:p>
        </p:txBody>
      </p:sp>
      <p:sp>
        <p:nvSpPr>
          <p:cNvPr id="18" name="Text 12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TERAZ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vs. rynek pracy.</a:t>
            </a:r>
            <a:endParaRPr lang="en-US" sz="360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51460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2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58%</a:t>
            </a:r>
            <a:endParaRPr lang="en-US" sz="540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w Polsce rozważa zmianę pracy w najbliższym roku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3520440" y="2331720"/>
            <a:ext cx="251460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370332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20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z 4</a:t>
            </a:r>
            <a:endParaRPr lang="en-US" sz="5400"/>
          </a:p>
        </p:txBody>
      </p:sp>
      <p:sp>
        <p:nvSpPr>
          <p:cNvPr id="11" name="Text 8"/>
          <p:cNvSpPr/>
          <p:nvPr/>
        </p:nvSpPr>
        <p:spPr>
          <a:xfrm>
            <a:off x="370332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kandydatów doświadcza ghostingu po rozmowie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6492240" y="2331720"/>
            <a:ext cx="251460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667512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20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~14</a:t>
            </a:r>
            <a:endParaRPr lang="en-US" sz="5400"/>
          </a:p>
        </p:txBody>
      </p:sp>
      <p:sp>
        <p:nvSpPr>
          <p:cNvPr id="14" name="Text 11"/>
          <p:cNvSpPr/>
          <p:nvPr/>
        </p:nvSpPr>
        <p:spPr>
          <a:xfrm>
            <a:off x="667512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średnia liczba aplikacji zanim junior trafi na pierwszą ofertę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54864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szacunkowe · raporty rynkowe o zatrudnieniu młodych 2023–2025 (do podmiany na Twoje źródła w finalnej wersji).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talentflow</a:t>
            </a:r>
            <a:endParaRPr lang="en-US" sz="110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już działa. Co dalej.</a:t>
            </a:r>
            <a:endParaRPr lang="en-US" sz="360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3931920" cy="2423160"/>
          </a:xfrm>
          <a:prstGeom prst="rect">
            <a:avLst/>
          </a:prstGeom>
          <a:solidFill>
            <a:srgbClr val="E6F5EE"/>
          </a:solidFill>
          <a:ln w="12700">
            <a:solidFill>
              <a:srgbClr val="1E8C6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77724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1E8C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ZROBIONE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Działający prototyp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3474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(JWT) + 3 konta demo (Talent · Mentor)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Dashboardy dla obu ról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Tasks: CRUD + status (Open/Judging/Closed)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Zgłoszenia + wybór Top 3 przez mentora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Odznaki Verified by Mentor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Anti-Ghosting: wymóg wskazówki w kodzie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Top Employer + algorytm 70/30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663440" y="2331720"/>
            <a:ext cx="3931920" cy="2423160"/>
          </a:xfrm>
          <a:prstGeom prst="rect">
            <a:avLst/>
          </a:prstGeom>
          <a:solidFill>
            <a:srgbClr val="F1EA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89204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NASTĘPNE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48920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prototypu do produktu</a:t>
            </a:r>
            <a:endParaRPr lang="en-US" sz="1800"/>
          </a:p>
        </p:txBody>
      </p:sp>
      <p:sp>
        <p:nvSpPr>
          <p:cNvPr id="13" name="Text 10"/>
          <p:cNvSpPr/>
          <p:nvPr/>
        </p:nvSpPr>
        <p:spPr>
          <a:xfrm>
            <a:off x="4892040" y="3246120"/>
            <a:ext cx="3474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Migracja z SQLite → Postgres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plików i portfolio (S3)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Powiadomienia e-mail + in-app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Weryfikacja pracodawcy (KRS/NIP)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profile link (do udostępniania odznak)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z 3–5 firmami partnerskimi</a:t>
            </a:r>
            <a:endParaRPr lang="en-US" sz="1050"/>
          </a:p>
          <a:p>
            <a:pPr marL="342900" indent="-342900">
              <a:spcAft>
                <a:spcPts val="300"/>
              </a:spcAft>
              <a:buSzPct val="100000"/>
              <a:buChar char="→"/>
            </a:pPr>
            <a:r>
              <a:rPr lang="en-US" sz="1050">
                <a:solidFill>
                  <a:srgbClr val="1618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Monetyzacja: SaaS per mentor / Battle Task credits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82753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56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772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-3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</a:t>
            </a:r>
            <a:r>
              <a:rPr lang="en-US" sz="5600" b="1" kern="0" spc="-300">
                <a:solidFill>
                  <a:srgbClr val="2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</a:t>
            </a:r>
            <a:endParaRPr lang="en-US" sz="560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C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Rekrutacja Gen Z oparta na dowodzie, nie obietnicy.</a:t>
            </a:r>
            <a:endParaRPr lang="en-US" sz="1800"/>
          </a:p>
        </p:txBody>
      </p:sp>
      <p:sp>
        <p:nvSpPr>
          <p:cNvPr id="5" name="Shape 2">
            <a:hlinkClick r:id="rId4"/>
          </p:cNvPr>
          <p:cNvSpPr/>
          <p:nvPr/>
        </p:nvSpPr>
        <p:spPr>
          <a:xfrm>
            <a:off x="1371600" y="3403600"/>
            <a:ext cx="3048000" cy="685800"/>
          </a:xfrm>
          <a:prstGeom prst="rect">
            <a:avLst/>
          </a:prstGeom>
          <a:solidFill>
            <a:srgbClr val="20B981"/>
          </a:solidFill>
          <a:ln w="12700">
            <a:solidFill>
              <a:srgbClr val="2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1371600" y="340360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5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/>
              </a:rPr>
              <a:t>Zobacz demo na żywo</a:t>
            </a:r>
            <a:endParaRPr lang="pl-PL" sz="1500" b="1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000" kern="0" spc="200">
                <a:solidFill>
                  <a:srgbClr val="B8BD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Zofia · Piotr · Kamil   —   konta demo w aplikacji</a:t>
            </a:r>
          </a:p>
        </p:txBody>
      </p:sp>
      <p:sp>
        <p:nvSpPr>
          <p:cNvPr id="8" name="GitHub Button">
            <a:hlinkClick r:id="rId5"/>
            <a:extLst>
              <a:ext uri="{FF2B5EF4-FFF2-40B4-BE49-F238E27FC236}">
                <a16:creationId xmlns:a16="http://schemas.microsoft.com/office/drawing/2014/main" id="{5B24F309-AAAA-4E59-B202-E8DC57B83BF7}"/>
              </a:ext>
            </a:extLst>
          </p:cNvPr>
          <p:cNvSpPr/>
          <p:nvPr/>
        </p:nvSpPr>
        <p:spPr>
          <a:xfrm>
            <a:off x="4724400" y="3403600"/>
            <a:ext cx="3048000" cy="685800"/>
          </a:xfrm>
          <a:prstGeom prst="rect">
            <a:avLst/>
          </a:prstGeom>
          <a:solidFill>
            <a:srgbClr val="0F1114"/>
          </a:solidFill>
          <a:ln w="12700" cap="flat" cmpd="sng" algn="ctr">
            <a:solidFill>
              <a:srgbClr val="2A2F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indent="0" algn="ctr">
              <a:buNone/>
            </a:pPr>
            <a:r>
              <a:rPr lang="pl-PL" sz="15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Kod na GitHubie</a:t>
            </a:r>
            <a:endParaRPr lang="pl-PL" sz="1500" b="1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3460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1AEC737-C763-431D-9E73-4C19929168EF}">
  <we:reference id="wa200010001" version="1.0.0.1" store="pl-PL" storeType="OMEX"/>
  <we:alternateReferences>
    <we:reference id="WA200010001" version="1.0.0.1" store="WA200010001" storeType="OMEX"/>
  </we:alternateReferences>
  <we:properties>
    <we:property name="claude.fileId" value="&quot;b897d506-9bd3-49d2-b071-95c2ebe0fef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997F0420C46A4DB0FCDF8067FCFFD9" ma:contentTypeVersion="11" ma:contentTypeDescription="Create a new document." ma:contentTypeScope="" ma:versionID="2494e5da3f3b7b37e17187a6c9e5d346">
  <xsd:schema xmlns:xsd="http://www.w3.org/2001/XMLSchema" xmlns:xs="http://www.w3.org/2001/XMLSchema" xmlns:p="http://schemas.microsoft.com/office/2006/metadata/properties" xmlns:ns3="dca1595f-4ffb-4f17-a036-2d424cf06c2e" targetNamespace="http://schemas.microsoft.com/office/2006/metadata/properties" ma:root="true" ma:fieldsID="7eaab3cb4234c0a7123fbb5f78fd4cb2" ns3:_="">
    <xsd:import namespace="dca1595f-4ffb-4f17-a036-2d424cf06c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a1595f-4ffb-4f17-a036-2d424cf06c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a1595f-4ffb-4f17-a036-2d424cf06c2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97BAE4-CAB1-40F9-B11D-A1C16EB4CFA8}">
  <ds:schemaRefs>
    <ds:schemaRef ds:uri="dca1595f-4ffb-4f17-a036-2d424cf06c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1B0E783-62E4-426A-B82E-021FA203E25B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dca1595f-4ffb-4f17-a036-2d424cf06c2e"/>
  </ds:schemaRefs>
</ds:datastoreItem>
</file>

<file path=customXml/itemProps3.xml><?xml version="1.0" encoding="utf-8"?>
<ds:datastoreItem xmlns:ds="http://schemas.openxmlformats.org/officeDocument/2006/customXml" ds:itemID="{63A5CF48-D3F0-40C5-8DCF-FF2F65952C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Microsoft Office PowerPoint</Application>
  <PresentationFormat>Pokaz na ekranie (16:9)</PresentationFormat>
  <Paragraphs>196</Paragraphs>
  <Slides>14</Slides>
  <Notes>13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5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TalentFlow — Pitch</dc:title>
  <dc:subject>PptxGenJS Presentation</dc:subject>
  <dc:creator>TalentFlow</dc:creator>
  <cp:lastModifiedBy>Filip Preisner</cp:lastModifiedBy>
  <cp:revision>4</cp:revision>
  <dcterms:created xsi:type="dcterms:W3CDTF">2026-04-18T19:49:05Z</dcterms:created>
  <dcterms:modified xsi:type="dcterms:W3CDTF">2026-04-18T23:25:18Z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0x010100E7997F0420C46A4DB0FCDF8067FCFFD9</vt:lpwstr>
  </property>
</Properties>
</file>